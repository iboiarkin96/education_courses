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7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5"/>
  </p:normalViewPr>
  <p:slideViewPr>
    <p:cSldViewPr snapToGrid="0">
      <p:cViewPr varScale="1">
        <p:scale>
          <a:sx n="88" d="100"/>
          <a:sy n="88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93535-A9CD-40B9-BF3F-7EF321BE1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A18501-F18D-49F3-A2C3-5D7389D8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0C951-E3E0-4B0D-A88F-3456E8B8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4D2E13-DD2B-47DA-9D74-43770964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3361B-A3E8-4F75-8595-4A0AC12E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81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B6F56-BFAB-4A3D-AF82-2A7519C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0DA85-76E1-4B0E-8580-B93030E62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BE7EE5-C50F-4894-BA42-FCEC204E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573F94-F629-46F3-8A73-811B7DA5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1A946-84F7-477B-BA5E-059E59C4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70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DBE0-FAAA-446A-AAA0-38BFB5BC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E50594-7C19-42F5-A5DC-EC1DE31F6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ABCB6-C4F1-4C9F-8845-CAE617F5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4A31E1-5E26-4B95-9528-21CE3BD1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44EABA-3F39-4ACE-B7D3-96D0D331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55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AE39E-1B0D-4B57-B24D-A436CB50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FFAAA4-0D03-4380-9DCC-C9607731F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0DE875-8655-49D9-8131-B42AB24C0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07F727-127F-4AA4-A07B-32505182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AAD55A-03F3-4C80-A3D2-58774E2B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9B7BA4-A799-4CE9-BDCC-E6C72B11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06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0FAE9-74DA-4AF3-9512-7239B68C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C872FF-D930-4D27-90D1-58A4FF0F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3B5896-D1AA-429D-927C-7DDF05E6C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D3D979-6C69-44D7-86B6-24BFC68D3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E72692-F7DB-4B6E-B59F-CA9323B40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8A5846-2287-4A7C-BE10-6CC9FB84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9354C9-C95F-4CB3-B380-4B5E1765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F5FEE4-FBD6-4C96-A30E-0D96ABED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72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8F19A-A11E-4CAD-B4BC-B6210A94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B58F4D-298E-4046-971A-837FD05E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D51E12-10C2-4FDD-B4FA-D47F5821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0844BE-9021-4DCF-8D2E-8B8D459D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94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E04847-7A2D-4796-A5B3-EA620585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C6FB86-2AF0-4FFD-B427-143A7F95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56C36F-807D-44AF-B4B7-48C63174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D97A4-E42C-441C-838D-FB52D1DF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9C6CA-3D4A-4400-831B-86E4AF4DE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3AA64E-F189-416B-8083-30142C5D4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76E395-3F8B-4B7D-8800-213F5F5C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71A177-2FA6-41E7-BE05-A09921E0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C1BCA1-BCA5-4008-9491-AC59AF72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16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A185D-85F9-44F1-9EF7-F376B0C8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7F11F6-7425-413D-85CC-93AD83EF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2925BF-20FB-475F-BDEC-60DCCF1A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233E7E-F8F4-4177-AEDF-38AEA560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69B7A-E56F-42CD-A781-DECB7293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403D7-1E26-41D9-8E66-367C28CA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93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954C9-A684-4C00-8D35-91BF119D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B98D9C-73C8-42E4-B6D6-9355BEE1B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4F396-A303-4441-B513-5E990767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67419-94E2-4F7F-A443-ED76E7B0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5C723C-1BDE-48DF-8C41-00909844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68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B09E90-8900-44A9-AFAB-6FD2F0354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8FC5F9-24BF-47AD-8FAE-787424861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4E105A-45DF-4525-8569-C7B8E124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583E8A-4582-4317-AE21-9674C835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C1805D-E6D8-4ED8-A5B9-2EA4048A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57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1E24A-E454-4198-AC2A-67BAE15B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FF1FAA-DC4B-4CE1-AECD-2C6FA675B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49DB3D-FE42-4458-8E01-ACC1EA991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E8796-1962-4A3D-8ED1-0EB2068E2665}" type="datetimeFigureOut">
              <a:rPr lang="ru-RU" smtClean="0"/>
              <a:t>21.07.2020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847090-ED22-4DEF-9CD7-8DCD17EF8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49FC0D-E049-4148-81D3-DC6E351B8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43D12-A7C4-4C9E-AC20-48F4538D6B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28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94B21-A71E-C341-A854-0EB2DE1EA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данные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8A7A09-7A68-E44E-9961-C36EECA1D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47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DE8AB-A150-4027-B0F1-D73453F80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2 неделя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347702-2FD3-4422-A76B-A538CD6A1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85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F7BA4-D521-4314-9018-2D8E69E3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2.1 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0D5E9-2C78-498E-BF1B-C4842AC2E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5950" cy="4351338"/>
          </a:xfrm>
        </p:spPr>
        <p:txBody>
          <a:bodyPr/>
          <a:lstStyle/>
          <a:p>
            <a:r>
              <a:rPr lang="ru-RU" dirty="0"/>
              <a:t>Объект исследования – это то, что находится в фокусе нашего внимания</a:t>
            </a:r>
          </a:p>
          <a:p>
            <a:r>
              <a:rPr lang="ru-RU" dirty="0"/>
              <a:t>Признак – свойства объектов </a:t>
            </a:r>
          </a:p>
          <a:p>
            <a:r>
              <a:rPr lang="ru-RU" dirty="0"/>
              <a:t>Качественные – это то как, мы закодировали какой признак. 0 – это совы, а 1 – это жаворонки. Цифра 0 или 1 сами по себе ничего не значат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90DB67-E63A-4691-91B1-2C552358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830" y="1690688"/>
            <a:ext cx="3982970" cy="31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0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F06530-6189-461B-8661-A128F3E6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200025"/>
            <a:ext cx="6562725" cy="3228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E3832D-F058-4FA1-BFF2-53C1DF041AD2}"/>
              </a:ext>
            </a:extLst>
          </p:cNvPr>
          <p:cNvSpPr txBox="1"/>
          <p:nvPr/>
        </p:nvSpPr>
        <p:spPr>
          <a:xfrm>
            <a:off x="1181101" y="3790950"/>
            <a:ext cx="7753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Номинальные- это заучит, что у них нет порядка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Порядковые – появляются отношение порядка, объекты разделяются на классы как и в прошлом случае, но и порядок. </a:t>
            </a:r>
          </a:p>
          <a:p>
            <a:r>
              <a:rPr lang="ru-RU" dirty="0"/>
              <a:t>К примеру, если мы изучаем уровень счастья в разных странах и задавали вопрос </a:t>
            </a:r>
          </a:p>
          <a:p>
            <a:r>
              <a:rPr lang="ru-RU" dirty="0"/>
              <a:t>«Насколько вы счастливы?», измеряли это по девятибалльной шкале, </a:t>
            </a:r>
          </a:p>
          <a:p>
            <a:r>
              <a:rPr lang="ru-RU" dirty="0"/>
              <a:t>где 9 — это максимальный уровень счастья, самый счастливый, </a:t>
            </a:r>
          </a:p>
          <a:p>
            <a:r>
              <a:rPr lang="ru-RU" dirty="0"/>
              <a:t>а 1 — минимальный уровень, самый несчастный.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при этом не можем сказать на сколько  </a:t>
            </a:r>
          </a:p>
        </p:txBody>
      </p:sp>
    </p:spTree>
    <p:extLst>
      <p:ext uri="{BB962C8B-B14F-4D97-AF65-F5344CB8AC3E}">
        <p14:creationId xmlns:p14="http://schemas.microsoft.com/office/powerpoint/2010/main" val="275818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7FC63-171A-4759-8BAC-AFF3E577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FBE9D-4BA4-40B4-95F3-6508D3763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Дискретные – это то, что не занимается все пространство и не может бесконечно дробиться </a:t>
            </a:r>
          </a:p>
          <a:p>
            <a:endParaRPr lang="ru-RU" dirty="0"/>
          </a:p>
          <a:p>
            <a:r>
              <a:rPr lang="ru-RU" dirty="0"/>
              <a:t>Номинальная – минимальное количество</a:t>
            </a:r>
          </a:p>
          <a:p>
            <a:r>
              <a:rPr lang="ru-RU" dirty="0"/>
              <a:t>Интервальное – определено расстояние между значениями </a:t>
            </a:r>
          </a:p>
        </p:txBody>
      </p:sp>
    </p:spTree>
    <p:extLst>
      <p:ext uri="{BB962C8B-B14F-4D97-AF65-F5344CB8AC3E}">
        <p14:creationId xmlns:p14="http://schemas.microsoft.com/office/powerpoint/2010/main" val="6773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DECB6-6A27-44C6-988A-6D81AA36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2.2 выборка случайных величин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689078A-4DF1-4054-9FC2-4CAB324FB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25" y="1381919"/>
            <a:ext cx="4248150" cy="1695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DFB25A-3201-4D76-BB7F-56F1679EFAEC}"/>
              </a:ext>
            </a:extLst>
          </p:cNvPr>
          <p:cNvSpPr txBox="1"/>
          <p:nvPr/>
        </p:nvSpPr>
        <p:spPr>
          <a:xfrm>
            <a:off x="5410200" y="1690688"/>
            <a:ext cx="3333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знак значит, что величина подчиняется некоторому закону распределения </a:t>
            </a:r>
          </a:p>
          <a:p>
            <a:endParaRPr lang="ru-RU" dirty="0"/>
          </a:p>
          <a:p>
            <a:r>
              <a:rPr lang="ru-RU" dirty="0"/>
              <a:t>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825325-B9B6-4B64-ACAF-22FAD0C70589}"/>
              </a:ext>
            </a:extLst>
          </p:cNvPr>
          <p:cNvSpPr/>
          <p:nvPr/>
        </p:nvSpPr>
        <p:spPr>
          <a:xfrm>
            <a:off x="1200150" y="3361532"/>
            <a:ext cx="109918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OpenSans"/>
              </a:rPr>
              <a:t>но работаем мы не с ней, мы работаем с некоторым </a:t>
            </a:r>
          </a:p>
          <a:p>
            <a:r>
              <a:rPr lang="ru-RU" b="0" i="0" dirty="0">
                <a:solidFill>
                  <a:srgbClr val="FF0000"/>
                </a:solidFill>
                <a:effectLst/>
                <a:latin typeface="OpenSans"/>
              </a:rPr>
              <a:t>набором реализаций </a:t>
            </a:r>
            <a:r>
              <a:rPr lang="ru-RU" b="0" i="0" dirty="0">
                <a:effectLst/>
                <a:latin typeface="OpenSans"/>
              </a:rPr>
              <a:t>данной случайной величины, ну, например, объема 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2E9C6-A1F9-490A-A809-DECA816D9408}"/>
              </a:ext>
            </a:extLst>
          </p:cNvPr>
          <p:cNvSpPr txBox="1"/>
          <p:nvPr/>
        </p:nvSpPr>
        <p:spPr>
          <a:xfrm>
            <a:off x="1200150" y="4378881"/>
            <a:ext cx="211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Это и есть выборка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BB84A3-BF2C-4917-A7C4-2D3626CEE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4957188"/>
            <a:ext cx="2324100" cy="1638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51F1EA-2B6A-4BC4-9B20-EE0EAF663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4838860"/>
            <a:ext cx="4159997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1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4C12F-0CD6-490B-A0FE-F01954A0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003532C-3816-409F-905B-814E56CE7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894"/>
            <a:ext cx="3629025" cy="1981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5F8BCF-18C3-4122-8411-03A47534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476750"/>
            <a:ext cx="1905000" cy="68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158925-510D-445E-BC5D-A1B2A9D79890}"/>
              </a:ext>
            </a:extLst>
          </p:cNvPr>
          <p:cNvSpPr txBox="1"/>
          <p:nvPr/>
        </p:nvSpPr>
        <p:spPr>
          <a:xfrm>
            <a:off x="1314450" y="5657850"/>
            <a:ext cx="4599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Любая статистика – это случайная величины </a:t>
            </a:r>
          </a:p>
        </p:txBody>
      </p:sp>
    </p:spTree>
    <p:extLst>
      <p:ext uri="{BB962C8B-B14F-4D97-AF65-F5344CB8AC3E}">
        <p14:creationId xmlns:p14="http://schemas.microsoft.com/office/powerpoint/2010/main" val="316512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305D80-5DC0-467B-B8D1-623B7951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9F6057-D754-4EFA-9135-68D19690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Квантиль</a:t>
            </a:r>
            <a:r>
              <a:rPr lang="ru-RU" dirty="0"/>
              <a:t> – это значение, которое случайная величина не превосходит с заданной точностью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0FA5FF-8116-420B-8110-FA9048F2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5125"/>
            <a:ext cx="4295848" cy="32718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D992F6-E0F1-43B4-A6BB-FD6EE19D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62" y="2905124"/>
            <a:ext cx="5655604" cy="327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6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BDD222-D612-4C4E-A649-664D502BB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2438"/>
            <a:ext cx="57245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9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FBE10-4C63-4FB6-8157-0C3A4821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2.3. Меры центральной тенденции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DC067A-5E02-442A-92D5-83380DFCF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То есть то, что мы видим на наших выборочных данных, 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интересно нам не само по себе, а интересно как оценка — 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и желательно качественная — того, что происходит в генеральной совокупности</a:t>
            </a:r>
          </a:p>
          <a:p>
            <a:r>
              <a:rPr lang="ru-RU" dirty="0"/>
              <a:t>Рассчитать усеченные статистики значит: отбросить самые маленькие и самые большие значения (как в спорте)</a:t>
            </a:r>
          </a:p>
          <a:p>
            <a:r>
              <a:rPr lang="ru-RU" dirty="0"/>
              <a:t>Робастные статистики – Это статистики, которые сами по себе не чувствительные к выбросам</a:t>
            </a:r>
          </a:p>
          <a:p>
            <a:r>
              <a:rPr lang="ru-RU" dirty="0"/>
              <a:t>Две мобы говорят, что в данных есть какая </a:t>
            </a:r>
            <a:r>
              <a:rPr lang="ru-RU" dirty="0" err="1"/>
              <a:t>структурв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2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32CE07B-B573-4418-BAC7-2EFBDDB2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969" y="4244004"/>
            <a:ext cx="3381375" cy="66675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Если абсолютно симметричное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52F11E-BD0A-42FC-9308-DC74A4F84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00"/>
            <a:ext cx="3914775" cy="36910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1FEA12-1877-48C8-B399-1D9E43FB6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60" y="223700"/>
            <a:ext cx="3806598" cy="35528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046D21-D88D-4B53-BA9E-F51DD68A1A19}"/>
              </a:ext>
            </a:extLst>
          </p:cNvPr>
          <p:cNvSpPr/>
          <p:nvPr/>
        </p:nvSpPr>
        <p:spPr>
          <a:xfrm>
            <a:off x="3914775" y="4512467"/>
            <a:ext cx="42154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OpenSans"/>
              </a:rPr>
              <a:t>например, </a:t>
            </a:r>
          </a:p>
          <a:p>
            <a:r>
              <a:rPr lang="ru-RU" b="0" i="0" dirty="0">
                <a:effectLst/>
                <a:latin typeface="OpenSans"/>
              </a:rPr>
              <a:t>в ситуации с распределением доходов. </a:t>
            </a:r>
          </a:p>
          <a:p>
            <a:r>
              <a:rPr lang="ru-RU" b="0" i="0" dirty="0">
                <a:effectLst/>
                <a:latin typeface="OpenSans"/>
              </a:rPr>
              <a:t>Если мы посмотрим на распределение доходов в большинстве стран, мы увидим, </a:t>
            </a:r>
          </a:p>
          <a:p>
            <a:r>
              <a:rPr lang="ru-RU" b="0" i="0" dirty="0">
                <a:effectLst/>
                <a:latin typeface="OpenSans"/>
              </a:rPr>
              <a:t>что относительно большая часть населения получает относительно меньшие доходы, </a:t>
            </a:r>
          </a:p>
          <a:p>
            <a:r>
              <a:rPr lang="ru-RU" b="0" i="0" dirty="0">
                <a:effectLst/>
                <a:latin typeface="OpenSans"/>
              </a:rPr>
              <a:t>и это означает </a:t>
            </a:r>
            <a:r>
              <a:rPr lang="ru-RU" b="0" i="0" dirty="0" err="1">
                <a:effectLst/>
                <a:latin typeface="OpenSans"/>
              </a:rPr>
              <a:t>скошенность</a:t>
            </a:r>
            <a:r>
              <a:rPr lang="ru-RU" b="0" i="0" dirty="0">
                <a:effectLst/>
                <a:latin typeface="OpenSans"/>
              </a:rPr>
              <a:t>, сдвиг горба влево в сторону меньших значений. 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804CB9-353F-4B88-B356-0BCB12040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369" y="323712"/>
            <a:ext cx="3448050" cy="33528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D1636B65-6874-4648-83D5-E93C19CBB1AE}"/>
              </a:ext>
            </a:extLst>
          </p:cNvPr>
          <p:cNvSpPr txBox="1">
            <a:spLocks/>
          </p:cNvSpPr>
          <p:nvPr/>
        </p:nvSpPr>
        <p:spPr>
          <a:xfrm>
            <a:off x="9439273" y="3845716"/>
            <a:ext cx="3381375" cy="6667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Горб сдвинут вправо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A481F7B-B7B1-4AEE-9848-7A42780DB177}"/>
              </a:ext>
            </a:extLst>
          </p:cNvPr>
          <p:cNvSpPr txBox="1">
            <a:spLocks/>
          </p:cNvSpPr>
          <p:nvPr/>
        </p:nvSpPr>
        <p:spPr>
          <a:xfrm>
            <a:off x="4916260" y="3945729"/>
            <a:ext cx="3381375" cy="66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Горб сдвинут влево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C147BDD-B8CB-470D-A206-5F4819BD90F9}"/>
              </a:ext>
            </a:extLst>
          </p:cNvPr>
          <p:cNvSpPr/>
          <p:nvPr/>
        </p:nvSpPr>
        <p:spPr>
          <a:xfrm>
            <a:off x="8722859" y="4845843"/>
            <a:ext cx="51020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OpenSans"/>
              </a:rPr>
              <a:t>например, если мы задали слишком лёгкий тест, </a:t>
            </a:r>
          </a:p>
          <a:p>
            <a:r>
              <a:rPr lang="ru-RU" b="0" i="0" dirty="0">
                <a:effectLst/>
                <a:latin typeface="OpenSans"/>
              </a:rPr>
              <a:t>и студенты справляются с ним слишком хорошо. </a:t>
            </a:r>
          </a:p>
          <a:p>
            <a:r>
              <a:rPr lang="ru-RU" b="0" i="0" dirty="0">
                <a:effectLst/>
                <a:latin typeface="OpenSans"/>
              </a:rPr>
              <a:t>То есть большая часть студентов решает этот тест лучше, </a:t>
            </a:r>
          </a:p>
          <a:p>
            <a:r>
              <a:rPr lang="ru-RU" b="0" i="0" dirty="0">
                <a:effectLst/>
                <a:latin typeface="OpenSans"/>
              </a:rPr>
              <a:t>чем среднее возможное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292349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82589-FEB1-4D3D-9D2A-67EA1D4C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42DA8-3EC1-4DED-90F2-FD5EF5B0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Среднее – типичные значения</a:t>
            </a:r>
          </a:p>
          <a:p>
            <a:r>
              <a:rPr lang="ru-RU" dirty="0"/>
              <a:t>Вариативность – это то на сколько отклоняются значения от среднего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1D2389-252E-486C-9377-390FB26F2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29756"/>
            <a:ext cx="3267075" cy="1743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39E05-97B2-408E-95C2-BF27FA90436C}"/>
              </a:ext>
            </a:extLst>
          </p:cNvPr>
          <p:cNvSpPr txBox="1"/>
          <p:nvPr/>
        </p:nvSpPr>
        <p:spPr>
          <a:xfrm>
            <a:off x="4724400" y="3129756"/>
            <a:ext cx="46688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квадрат возводим, чтобы не произошло уничтожение отрицательных отклонений положительными 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869C4E-BBFB-4590-A350-4979ECA3D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49" y="5324475"/>
            <a:ext cx="29241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9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8975B-DF72-4EEC-8E22-FCA911B4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Очень чувствительны к выбросам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FB92A3-34D8-4F28-9A6F-A67A5DC0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Средне </a:t>
            </a:r>
          </a:p>
          <a:p>
            <a:r>
              <a:rPr lang="ru-RU" dirty="0"/>
              <a:t>Среднеквадратичное отклонение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 err="1"/>
              <a:t>Межквартильный</a:t>
            </a:r>
            <a:r>
              <a:rPr lang="ru-RU" dirty="0"/>
              <a:t> размах – показывает вариативность относительно среднего 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2242899-3BB8-467C-94B7-B39F08AFE6A6}"/>
              </a:ext>
            </a:extLst>
          </p:cNvPr>
          <p:cNvSpPr txBox="1">
            <a:spLocks/>
          </p:cNvSpPr>
          <p:nvPr/>
        </p:nvSpPr>
        <p:spPr>
          <a:xfrm>
            <a:off x="838200" y="26757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Не  чувствительны к выбросам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8E89B2-CFAA-4316-A9D7-661C4DF73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0" y="5106591"/>
            <a:ext cx="5427790" cy="17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0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E115B-5546-4864-829A-AF6E8BF6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2.5. Несмещенная дисперсия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2A40642-5EEE-4638-A2B4-7CE377DC4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137" y="1400175"/>
            <a:ext cx="4391025" cy="37528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FAD3BE-A836-48FC-829D-D51A89585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25" y="1690688"/>
            <a:ext cx="6391275" cy="6905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D071D5-8A19-48B9-BA15-924C0D164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837" y="2870201"/>
            <a:ext cx="63722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9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D0F0F-E24C-4A3A-A988-378CC04E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BCB45-447C-4A55-95E9-28DA5627C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DAE3B5-A182-47D7-A0EB-6B3724CE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7812"/>
            <a:ext cx="4914900" cy="3095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3D1519-120E-4258-9825-1C044FF6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837" y="3286125"/>
            <a:ext cx="64865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5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CA9DA-B83F-433B-A1C7-693A686B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2.6. Меры и типы переменных: что и где применимо?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13F9B2-F733-432F-88E0-40152415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1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DE8AB-A150-4027-B0F1-D73453F80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ru-RU" dirty="0"/>
              <a:t> неделя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347702-2FD3-4422-A76B-A538CD6A1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71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2D258-FB74-4388-B072-F0BF4A4A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71F40B09-FBBD-4F33-9DAF-5EA08DFD1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3962" y="3341687"/>
            <a:ext cx="6924675" cy="33623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16BE5E-33E5-4199-B4A3-3CD485EE9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3238"/>
            <a:ext cx="75152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47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05AEEA-BC91-440E-9288-5570DE454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33" y="721829"/>
            <a:ext cx="90011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2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70F0C-398A-4728-93A6-FEE3128A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8B95E8C-E87D-4F22-BAC7-9DD836AD5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8100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8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055E8-8B71-4DEE-9B45-2410F2C1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D7837-742A-4B61-994A-1496792B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0B2D2F-92C2-4CF6-8697-633D43FCB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252537"/>
            <a:ext cx="88201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31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FC559-66C4-C544-BFEF-ADBC9DD5C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Исследование </a:t>
            </a:r>
            <a:r>
              <a:rPr lang="ru-RU" dirty="0" err="1"/>
              <a:t>стат</a:t>
            </a:r>
            <a:r>
              <a:rPr lang="ru-RU"/>
              <a:t> взаимосвязей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3FE6AA-FCF2-104F-AD61-77D88667DB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313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294A9-5F06-704B-AE0F-8C52D3BC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 и есть уровень значимости 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B58B89D-B288-5A47-9499-1F8A069B6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727" y="1852129"/>
            <a:ext cx="49063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98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9252B-E86F-A443-A747-1A67F6CE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A6C1C6B-5889-114D-9AB8-E2506068F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922" y="1253331"/>
            <a:ext cx="6462383" cy="43513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7A89BD-10FD-7B45-B04B-6C4A64A2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843" y="5054600"/>
            <a:ext cx="88646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09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68378-0BE2-5B40-98C1-D1CE4E3E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65CB6D-07D0-2E41-8976-031F87695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7E3656-5853-A446-978C-E8D231E89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0" y="546100"/>
            <a:ext cx="9842500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42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178C9-8815-AE4A-BF1D-8A15B945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2F898F-2E56-BB4C-8C66-24B0693F0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557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CBA7D-E276-C94E-93E8-E337ECCF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1F2861-EC49-FD49-9207-E02EE6A6E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290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07B4F-D621-644E-9E55-3C39D706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26D1A-D0D4-8245-81D6-B9274EE0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9203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2021</TotalTime>
  <Words>462</Words>
  <Application>Microsoft Macintosh PowerPoint</Application>
  <PresentationFormat>Широкоэкранный</PresentationFormat>
  <Paragraphs>60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OpenSans</vt:lpstr>
      <vt:lpstr>Тема Office</vt:lpstr>
      <vt:lpstr>Введение в данные</vt:lpstr>
      <vt:lpstr>2 неделя</vt:lpstr>
      <vt:lpstr>2.1 типы данных</vt:lpstr>
      <vt:lpstr>Презентация PowerPoint</vt:lpstr>
      <vt:lpstr>Презентация PowerPoint</vt:lpstr>
      <vt:lpstr>2.2 выборка случайных величин</vt:lpstr>
      <vt:lpstr>Презентация PowerPoint</vt:lpstr>
      <vt:lpstr>Презентация PowerPoint</vt:lpstr>
      <vt:lpstr>Презентация PowerPoint</vt:lpstr>
      <vt:lpstr>2.3. Меры центральной тенденции </vt:lpstr>
      <vt:lpstr>Презентация PowerPoint</vt:lpstr>
      <vt:lpstr>Презентация PowerPoint</vt:lpstr>
      <vt:lpstr>Очень чувствительны к выбросам</vt:lpstr>
      <vt:lpstr>2.5. Несмещенная дисперсия</vt:lpstr>
      <vt:lpstr>Презентация PowerPoint</vt:lpstr>
      <vt:lpstr>2.6. Меры и типы переменных: что и где применимо? </vt:lpstr>
      <vt:lpstr>3 неделя</vt:lpstr>
      <vt:lpstr>Презентация PowerPoint</vt:lpstr>
      <vt:lpstr>Презентация PowerPoint</vt:lpstr>
      <vt:lpstr>Презентация PowerPoint</vt:lpstr>
      <vt:lpstr>Презентация PowerPoint</vt:lpstr>
      <vt:lpstr>Исследование стат взаимосвязей</vt:lpstr>
      <vt:lpstr>Это и есть уровень значимости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неделя</dc:title>
  <dc:creator>Бояркин Иван Сергеевич</dc:creator>
  <cp:lastModifiedBy>Кривонос Наталья Олеговна</cp:lastModifiedBy>
  <cp:revision>21</cp:revision>
  <dcterms:created xsi:type="dcterms:W3CDTF">2020-05-23T06:43:53Z</dcterms:created>
  <dcterms:modified xsi:type="dcterms:W3CDTF">2020-07-21T12:33:02Z</dcterms:modified>
</cp:coreProperties>
</file>